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5279560b654b6d" /><Relationship Type="http://schemas.openxmlformats.org/officeDocument/2006/relationships/extended-properties" Target="/docProps/app.xml" Id="Rd86f232d3a00492c" /><Relationship Type="http://schemas.openxmlformats.org/officeDocument/2006/relationships/officeDocument" Target="/ppt/presentation.xml" Id="R447a3735cc384e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cb7ed9dc40415a"/>
  </p:sldMasterIdLst>
  <p:notesMasterIdLst>
    <p:notesMasterId xmlns:r="http://schemas.openxmlformats.org/officeDocument/2006/relationships" r:id="Reca7ce78975f45da"/>
  </p:notesMasterIdLst>
  <p:sldIdLst>
    <p:sldId xmlns:r="http://schemas.openxmlformats.org/officeDocument/2006/relationships" id="256" r:id="Re2d2ce30fb8b4bdb"/>
    <p:sldId xmlns:r="http://schemas.openxmlformats.org/officeDocument/2006/relationships" id="257" r:id="R4d00b421551947d0"/>
    <p:sldId xmlns:r="http://schemas.openxmlformats.org/officeDocument/2006/relationships" id="258" r:id="R201162882cb5427e"/>
    <p:sldId xmlns:r="http://schemas.openxmlformats.org/officeDocument/2006/relationships" id="259" r:id="R88f98aa2313d41d5"/>
    <p:sldId xmlns:r="http://schemas.openxmlformats.org/officeDocument/2006/relationships" id="260" r:id="R4727105914fd46ba"/>
    <p:sldId xmlns:r="http://schemas.openxmlformats.org/officeDocument/2006/relationships" id="261" r:id="Rc9dabc902dea46df"/>
    <p:sldId xmlns:r="http://schemas.openxmlformats.org/officeDocument/2006/relationships" id="262" r:id="Re56de31c69854f21"/>
    <p:sldId xmlns:r="http://schemas.openxmlformats.org/officeDocument/2006/relationships" id="263" r:id="R0bebe1bd4e7e48cf"/>
    <p:sldId xmlns:r="http://schemas.openxmlformats.org/officeDocument/2006/relationships" id="264" r:id="Rb8207f5433eb4bc1"/>
    <p:sldId xmlns:r="http://schemas.openxmlformats.org/officeDocument/2006/relationships" id="265" r:id="R8bc658fe04b549d9"/>
    <p:sldId xmlns:r="http://schemas.openxmlformats.org/officeDocument/2006/relationships" id="266" r:id="R3237cda09ff44af3"/>
    <p:sldId xmlns:r="http://schemas.openxmlformats.org/officeDocument/2006/relationships" id="267" r:id="R6c7d2b0cae2c42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f7ec4c8ab94894" /><Relationship Type="http://schemas.openxmlformats.org/officeDocument/2006/relationships/slideMaster" Target="/ppt/slideMasters/slideMaster1.xml" Id="R15cb7ed9dc40415a" /><Relationship Type="http://schemas.openxmlformats.org/officeDocument/2006/relationships/notesMaster" Target="/ppt/notesMasters/notesMaster1.xml" Id="Reca7ce78975f45da" /><Relationship Type="http://schemas.openxmlformats.org/officeDocument/2006/relationships/presProps" Target="/ppt/presProps.xml" Id="R4bcd5db89c374268" /><Relationship Type="http://schemas.openxmlformats.org/officeDocument/2006/relationships/tableStyles" Target="/ppt/tableStyles.xml" Id="Rb21b649f1ac94112" /><Relationship Type="http://schemas.openxmlformats.org/officeDocument/2006/relationships/slide" Target="/ppt/slides/slide1.xml" Id="Re2d2ce30fb8b4bdb" /><Relationship Type="http://schemas.openxmlformats.org/officeDocument/2006/relationships/slide" Target="/ppt/slides/slide2.xml" Id="R4d00b421551947d0" /><Relationship Type="http://schemas.openxmlformats.org/officeDocument/2006/relationships/slide" Target="/ppt/slides/slide3.xml" Id="R201162882cb5427e" /><Relationship Type="http://schemas.openxmlformats.org/officeDocument/2006/relationships/slide" Target="/ppt/slides/slide4.xml" Id="R88f98aa2313d41d5" /><Relationship Type="http://schemas.openxmlformats.org/officeDocument/2006/relationships/slide" Target="/ppt/slides/slide5.xml" Id="R4727105914fd46ba" /><Relationship Type="http://schemas.openxmlformats.org/officeDocument/2006/relationships/slide" Target="/ppt/slides/slide6.xml" Id="Rc9dabc902dea46df" /><Relationship Type="http://schemas.openxmlformats.org/officeDocument/2006/relationships/slide" Target="/ppt/slides/slide7.xml" Id="Re56de31c69854f21" /><Relationship Type="http://schemas.openxmlformats.org/officeDocument/2006/relationships/slide" Target="/ppt/slides/slide8.xml" Id="R0bebe1bd4e7e48cf" /><Relationship Type="http://schemas.openxmlformats.org/officeDocument/2006/relationships/slide" Target="/ppt/slides/slide9.xml" Id="Rb8207f5433eb4bc1" /><Relationship Type="http://schemas.openxmlformats.org/officeDocument/2006/relationships/slide" Target="/ppt/slides/slide10.xml" Id="R8bc658fe04b549d9" /><Relationship Type="http://schemas.openxmlformats.org/officeDocument/2006/relationships/slide" Target="/ppt/slides/slide11.xml" Id="R3237cda09ff44af3" /><Relationship Type="http://schemas.openxmlformats.org/officeDocument/2006/relationships/slide" Target="/ppt/slides/slide12.xml" Id="R6c7d2b0cae2c42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252294c9cd48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e8f2330634483a" /><Relationship Type="http://schemas.openxmlformats.org/officeDocument/2006/relationships/notesMaster" Target="/ppt/notesMasters/notesMaster1.xml" Id="R88f1b1b9b2864b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0c456949c04459" /><Relationship Type="http://schemas.openxmlformats.org/officeDocument/2006/relationships/notesMaster" Target="/ppt/notesMasters/notesMaster1.xml" Id="R9447209ad0b94c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b2a88944b34bd4" /><Relationship Type="http://schemas.openxmlformats.org/officeDocument/2006/relationships/notesMaster" Target="/ppt/notesMasters/notesMaster1.xml" Id="Rf64523026b5b44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162c7d86264a03" /><Relationship Type="http://schemas.openxmlformats.org/officeDocument/2006/relationships/notesMaster" Target="/ppt/notesMasters/notesMaster1.xml" Id="R3171c42b493442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f5f9583a1b48c0" /><Relationship Type="http://schemas.openxmlformats.org/officeDocument/2006/relationships/notesMaster" Target="/ppt/notesMasters/notesMaster1.xml" Id="R71dadae20ed44c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968389a10140f5" /><Relationship Type="http://schemas.openxmlformats.org/officeDocument/2006/relationships/notesMaster" Target="/ppt/notesMasters/notesMaster1.xml" Id="R59080696933947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073771d9b04d1c" /><Relationship Type="http://schemas.openxmlformats.org/officeDocument/2006/relationships/notesMaster" Target="/ppt/notesMasters/notesMaster1.xml" Id="Rc9c25522090d42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41c741a6704d4c" /><Relationship Type="http://schemas.openxmlformats.org/officeDocument/2006/relationships/notesMaster" Target="/ppt/notesMasters/notesMaster1.xml" Id="R61e8a98abd9e4b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1b85a6f61046ed" /><Relationship Type="http://schemas.openxmlformats.org/officeDocument/2006/relationships/notesMaster" Target="/ppt/notesMasters/notesMaster1.xml" Id="R2a89b2a0694048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745db022644935" /><Relationship Type="http://schemas.openxmlformats.org/officeDocument/2006/relationships/notesMaster" Target="/ppt/notesMasters/notesMaster1.xml" Id="R54d08daf070947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36820171f34609" /><Relationship Type="http://schemas.openxmlformats.org/officeDocument/2006/relationships/notesMaster" Target="/ppt/notesMasters/notesMaster1.xml" Id="Rc29fcb8273d746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446a998c0d4390" /><Relationship Type="http://schemas.openxmlformats.org/officeDocument/2006/relationships/notesMaster" Target="/ppt/notesMasters/notesMaster1.xml" Id="Ref95e4261dad48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 Apresente o nome do sistema, a equipe e a ideia central. Explique que o ControleLab já é um MVP funcional e que a apresentação mostrará tanto decisões técnicas quanto uma demonstração prática.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Projeto local ControleLab — README.md</a:t>
            </a:r>
          </a:p>
          <a:p xmlns:a="http://schemas.openxmlformats.org/drawingml/2006/main">
            <a:r>
              <a:t>- Captura do painel local do ControleLab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 minuto. Contextualize o processo anterior: registros dispersos em caderno ou planilha. Mostre que o problema não é apenas armazenar dados, mas recuperar rapidamente quem retirou, qual quantidade saiu e se houve devolução.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ControleLab/PLANO_E_ROTEIRO.md — seções 1 e 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 minuto. Apresente as quatro etapas como uma única jornada. Reforce que o valor do sistema vem da conexão entre elas: cadastrar sem controlar a saída não resolve; emprestar sem registrar a devolução também não.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ControleLab/README.md — funcionalidades implementadas</a:t>
            </a:r>
          </a:p>
          <a:p xmlns:a="http://schemas.openxmlformats.org/drawingml/2006/main">
            <a:r>
              <a:t>- ControleLab/PLANO_E_ROTEIRO.md — regras de negócio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 minuto e 15 segundos. Explique a direção da requisição: o navegador chama a API; a API valida a regra de negócio; somente então o MySQL é consultado ou atualizado. A separação facilita manutenção e permite trocar uma camada sem reescrever todo o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ControleLab/package.json</a:t>
            </a:r>
          </a:p>
          <a:p xmlns:a="http://schemas.openxmlformats.org/drawingml/2006/main">
            <a:r>
              <a:t>- ControleLab/src/server.js</a:t>
            </a:r>
          </a:p>
          <a:p xmlns:a="http://schemas.openxmlformats.org/drawingml/2006/main">
            <a:r>
              <a:t>- ControleLab/src/db.js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 minuto. Mostre que a estrutura é pequena, mas deliberada. O front-end fica isolado em public; as regras e integrações ficam em src; e o banco pode ser recriado pelo schema versionado no projeto.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Estrutura de arquivos do projeto local ControleLab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 minuto. Explique o relacionamento um-para-muitos: uma ferramenta pode aparecer em vários empréstimos ao longo do tempo. Mostre que o saldo atual fica em tools e que cada movimentação detalhada permanece em loans.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ControleLab/database/schema.sql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 minuto e 20 segundos. Passe rapidamente pelas rotas e dedique mais tempo ao empréstimo. A transação evita inconsistência se duas operações disputarem o mesmo estoque. Informe com transparência que autenticação ainda não faz parte do MVP.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ControleLab/src/routes/tools.js</a:t>
            </a:r>
          </a:p>
          <a:p xmlns:a="http://schemas.openxmlformats.org/drawingml/2006/main">
            <a:r>
              <a:t>- ControleLab/src/routes/loans.js</a:t>
            </a:r>
          </a:p>
          <a:p xmlns:a="http://schemas.openxmlformats.org/drawingml/2006/main">
            <a:r>
              <a:t>- ControleLab/src/server.js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 minuto. Mostre a tela de ferramentas e a lógica visual. A busca e o filtro apoiam consulta; o botão de cadastro fica no contexto certo; a disponibilidade aparece próxima ao estoque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ControleLab/public/index.html</a:t>
            </a:r>
          </a:p>
          <a:p xmlns:a="http://schemas.openxmlformats.org/drawingml/2006/main">
            <a:r>
              <a:t>- ControleLab/public/app.js</a:t>
            </a:r>
          </a:p>
          <a:p xmlns:a="http://schemas.openxmlformats.org/drawingml/2006/main">
            <a:r>
              <a:t>- Captura local da tela Ferramentas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2 minutos. Faça a demonstração ao vivo seguindo os cinco passos. Use um código de teste novo. No quarto passo, informe uma quantidade maior que a disponível para evidenciar a regra de negócio. Finalize devolvendo o item e mostrando o histórico.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ControleLab/README.md — demonstração recomendada</a:t>
            </a:r>
          </a:p>
          <a:p xmlns:a="http://schemas.openxmlformats.org/drawingml/2006/main">
            <a:r>
              <a:t>- Captura local da tela Empréstimos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 minuto. Explique que a validação não se limitou ao caminho de sucesso. Foram exercitados erros de entrada, duplicidade, falta de estoque e repetição de devolução. Os testes temporários foram limpos para manter a base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Resultados dos testes executados localmente em 13/08/2026</a:t>
            </a:r>
          </a:p>
          <a:p xmlns:a="http://schemas.openxmlformats.org/drawingml/2006/main">
            <a:r>
              <a:t>- Captura local da tela Histórico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 minuto. Apresente o roadmap em três ciclos relativos, pois as datas finais dependem do calendário da disciplina. Explique a divisão confirmada: Gabriel conduz integração e apresentação; a equipe participa de revisão, testes e validação. Ajuste os nomes no slide caso existam outros integrantes que precisem ser identificados individualmente.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ControleLab/README.md — próximas melhorias</a:t>
            </a:r>
          </a:p>
          <a:p xmlns:a="http://schemas.openxmlformats.org/drawingml/2006/main">
            <a:r>
              <a:t>- ControleLab/PLANO_E_ROTEIRO.md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40 segundos. Retome a pergunta inicial e feche com a resposta: agora é possível saber qual item saiu, para quem, em qual quantidade e se já voltou. Indique a prioridade do próximo ciclo e abra para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do projeto local ControleLab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b66d108f549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4609a393ff4721" /><Relationship Type="http://schemas.openxmlformats.org/officeDocument/2006/relationships/slideLayout" Target="/ppt/slideLayouts/slideLayout1.xml" Id="R3a9650e589694f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9650e589694f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8142ec3264878" /><Relationship Type="http://schemas.openxmlformats.org/officeDocument/2006/relationships/image" Target="/ppt/media/image.jpeg" Id="R0034488b59444f5f" /><Relationship Type="http://schemas.openxmlformats.org/officeDocument/2006/relationships/notesSlide" Target="/ppt/notesSlides/notesSlide1.xml" Id="R18b7146b868f44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ab3ab66fe4814" /><Relationship Type="http://schemas.openxmlformats.org/officeDocument/2006/relationships/notesSlide" Target="/ppt/notesSlides/notesSlide2.xml" Id="R6536747b86fb48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53d97b2144ba1" /><Relationship Type="http://schemas.openxmlformats.org/officeDocument/2006/relationships/notesSlide" Target="/ppt/notesSlides/notesSlide3.xml" Id="Rba625576c1d24d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eba6c46d24447" /><Relationship Type="http://schemas.openxmlformats.org/officeDocument/2006/relationships/notesSlide" Target="/ppt/notesSlides/notesSlide4.xml" Id="Ra7e258ded59149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e47cb15b2429d" /><Relationship Type="http://schemas.openxmlformats.org/officeDocument/2006/relationships/notesSlide" Target="/ppt/notesSlides/notesSlide5.xml" Id="Ra1b6e8d72aaa48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b2ed3b52a4f7d" /><Relationship Type="http://schemas.openxmlformats.org/officeDocument/2006/relationships/notesSlide" Target="/ppt/notesSlides/notesSlide6.xml" Id="R8d9277b39b5a4e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025907a4c4073" /><Relationship Type="http://schemas.openxmlformats.org/officeDocument/2006/relationships/notesSlide" Target="/ppt/notesSlides/notesSlide7.xml" Id="R420a97b15f7649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67b2e860e4157" /><Relationship Type="http://schemas.openxmlformats.org/officeDocument/2006/relationships/image" Target="/ppt/media/image2.jpeg" Id="Recef3ca7be0e4c66" /><Relationship Type="http://schemas.openxmlformats.org/officeDocument/2006/relationships/notesSlide" Target="/ppt/notesSlides/notesSlide8.xml" Id="R08bbdaf6d8cc4a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c09fe75b54184" /><Relationship Type="http://schemas.openxmlformats.org/officeDocument/2006/relationships/image" Target="/ppt/media/image3.jpeg" Id="R3b868547799c48ef" /><Relationship Type="http://schemas.openxmlformats.org/officeDocument/2006/relationships/notesSlide" Target="/ppt/notesSlides/notesSlide9.xml" Id="R24ca61c7503446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3a82712cb4bfa" /><Relationship Type="http://schemas.openxmlformats.org/officeDocument/2006/relationships/image" Target="/ppt/media/image4.jpeg" Id="Rf8e2f45a0e954424" /><Relationship Type="http://schemas.openxmlformats.org/officeDocument/2006/relationships/notesSlide" Target="/ppt/notesSlides/notesSlide10.xml" Id="Ra7aa33460cd847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96233a77b44fa" /><Relationship Type="http://schemas.openxmlformats.org/officeDocument/2006/relationships/notesSlide" Target="/ppt/notesSlides/notesSlide11.xml" Id="R098fa302e6984a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52455803c4fd8" /><Relationship Type="http://schemas.openxmlformats.org/officeDocument/2006/relationships/notesSlide" Target="/ppt/notesSlides/notesSlide12.xml" Id="Raacf866ea21a48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C68F6-0BE8-4659-8A78-3088183B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PROJETO INTEGRADOR · APRESENTAÇÃO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15047-DC3A-4226-BCE5-57A35996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ControleLab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47BD6-3BCA-4220-9D28-27F5B58D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Rastreabilidade de ferramentas para laboratórios escolares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514350" y="3276600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677F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D5183-0D2C-441F-BEF4-2A3B6DF8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Equipe DevProMax</a:t>
            </a:r>
          </a:p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Gabriel Schifter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99B1C-ED46-4F55-A721-E33BB957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57225"/>
            <a:ext cx="5676900" cy="3248025"/>
          </a:xfrm>
          <a:prstGeom xmlns:a="http://schemas.openxmlformats.org/drawingml/2006/main" prst="roundRect">
            <a:avLst>
              <a:gd name="adj" fmla="val 3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4488b59444f5f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714375"/>
            <a:ext cx="5562600" cy="3133725"/>
          </a:xfrm>
          <a:prstGeom xmlns:a="http://schemas.openxmlformats.org/drawingml/2006/main" prst="roundRect">
            <a:avLst>
              <a:gd name="adj" fmla="val 243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31E63-B92D-42D6-92F5-1FB57903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48150"/>
            <a:ext cx="4991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66AD3-78C8-4FB5-AD10-45EFC97B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958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3C5FD"/>
                </a:solidFill>
                <a:latin typeface="Arial"/>
                <a:ea typeface="Arial"/>
                <a:cs typeface="Arial"/>
              </a:rPr>
              <a:t>MVP funcional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4789A-6002-4608-8EAD-2AA732D2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95850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Cadastro, empréstimo, devolução e histórico em um único fluxo.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1369F-E65E-4D7E-A50A-471844EF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28342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2">
            <a:extLst xmlns:a="http://schemas.openxmlformats.org/drawingml/2006/main">
              <a:ext uri="{FF2B5EF4-FFF2-40B4-BE49-F238E27FC236}">
                <a16:creationId xmlns:a16="http://schemas.microsoft.com/office/drawing/2014/main" id="{10592A04-6CA6-4558-8EC4-76F2BAA8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PROBLEMA E PÚBLICO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AB14D63-0283-45A7-9B16-8318DD75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2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 controle manual perde a resposta mais importante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C42E69CB-5E22-4940-92CB-79ECEB77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EA6B2-308D-4735-8191-863562CA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964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“Quem está com cada ferramenta — e desde quando?”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740AA-F190-454D-8A91-9A781010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0450"/>
            <a:ext cx="581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Planilhas e cadernos registram dados, mas dificultam consulta, atualização e rastreabilidade no dia a dia.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7067550" y="1790700"/>
            <a:ext cx="95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9724C-2B39-4001-B9E8-F55EAFDF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Público-alvo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EA576-FCA9-4378-A759-798C53F7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47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6C181-0DBD-40D5-81B1-BAC32038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0030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8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Responsáveis por laboratórios e oficinas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3FD5B-4AD8-4F3A-BED0-50AD7910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57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9B0B0-EAE6-4FC8-930E-7A5580E4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0990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3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Professores que entregam equipamentos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BA6EF1-9B2D-4F78-BB9D-BA83A03A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28DBD-450F-41BC-A9E9-47C413A0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1950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Alunos que realizam empréstimos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191D8-3560-4CFF-B85A-FE98016E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291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Impacto esperado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43B256-AED5-45D8-AB72-3C05EF1D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2445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Menos perdas, consulta mais rápida e responsabilidade registrada em cada movimentação.</a:t>
            </a:r>
          </a:p>
        </p:txBody>
      </p:sp>
    </p:spTree>
    <p:extLst>
      <p:ext uri="{BB962C8B-B14F-4D97-AF65-F5344CB8AC3E}">
        <p14:creationId xmlns:p14="http://schemas.microsoft.com/office/powerpoint/2010/main" val="6104611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3">
            <a:extLst xmlns:a="http://schemas.openxmlformats.org/drawingml/2006/main">
              <a:ext uri="{FF2B5EF4-FFF2-40B4-BE49-F238E27FC236}">
                <a16:creationId xmlns:a16="http://schemas.microsoft.com/office/drawing/2014/main" id="{BC7E8BE6-5440-4EF0-A2B9-B0DA7C80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ESCOPO DA SOLUÇÃO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27A2641-D869-4D36-A884-8CC04BFF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 MVP cobre o ciclo completo de uma movimentação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010E755B-3DC4-4A8F-8A2F-6CAB4B4E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255D3-879D-4A31-A9CD-BFA3D3B9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 usuário percorre um fluxo curto, e cada etapa atualiza o estoque e o histórico.</a:t>
            </a:r>
          </a:p>
        </p:txBody>
      </p:sp>
      <p:sp>
        <p:nvSpPr>
          <p:cNvPr id="6" name="flow-0">
            <a:extLst xmlns:a="http://schemas.openxmlformats.org/drawingml/2006/main">
              <a:ext uri="{FF2B5EF4-FFF2-40B4-BE49-F238E27FC236}">
                <a16:creationId xmlns:a16="http://schemas.microsoft.com/office/drawing/2014/main" id="{C1A471CF-A197-4A0B-BA3F-3743F296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095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flow-1">
            <a:extLst xmlns:a="http://schemas.openxmlformats.org/drawingml/2006/main">
              <a:ext uri="{FF2B5EF4-FFF2-40B4-BE49-F238E27FC236}">
                <a16:creationId xmlns:a16="http://schemas.microsoft.com/office/drawing/2014/main" id="{2B9C3F9D-A4C0-4B56-921E-8C8C04F8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2095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flow-2">
            <a:extLst xmlns:a="http://schemas.openxmlformats.org/drawingml/2006/main">
              <a:ext uri="{FF2B5EF4-FFF2-40B4-BE49-F238E27FC236}">
                <a16:creationId xmlns:a16="http://schemas.microsoft.com/office/drawing/2014/main" id="{2A9412D2-0336-4CC3-A061-7FC12EA0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2095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flow-3">
            <a:extLst xmlns:a="http://schemas.openxmlformats.org/drawingml/2006/main">
              <a:ext uri="{FF2B5EF4-FFF2-40B4-BE49-F238E27FC236}">
                <a16:creationId xmlns:a16="http://schemas.microsoft.com/office/drawing/2014/main" id="{309FB17C-2104-4282-95BE-8F3A6925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2095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62250" y="3724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7FF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334000" y="3724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7FF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905750" y="3724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7FF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EB5C3-CFD0-4ECE-9293-C493BB50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3E7F0-E141-4387-8BC8-30B8FBE3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Cadastrar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64F64-2FE2-4D76-B904-5BCBD6D1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56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Código único, descrição e quantidade.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094C5-CF31-4707-AC66-EF0E7D38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14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5308D-8952-4915-A19D-F9CA7FF9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718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Emprestar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23F193-B0DD-4150-BB9E-B5028B6B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433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Aluno, responsável e quantidade.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4C58A-8AF1-43F1-AC79-B24C1640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67EEE-E2E4-4BC5-9FE0-D89B87D9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718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65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Acompanhar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33758-0928-41BC-B43A-781C1FB7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433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56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Indicadores e empréstimos em aberto.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7ED9C0-53F5-449D-9173-C958446C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7D898-8AEE-4DED-9720-A0600E9D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718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Devolver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478B7E-E746-4679-811D-A6A6D1AC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43350"/>
            <a:ext cx="167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Responsável, data, hora e histórico.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00152B-F0D3-4EBF-AB57-D19C4BBF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Regras transversais: validar campos · impedir código duplicado · bloquear estoque insuficiente</a:t>
            </a:r>
          </a:p>
        </p:txBody>
      </p:sp>
    </p:spTree>
    <p:extLst>
      <p:ext uri="{BB962C8B-B14F-4D97-AF65-F5344CB8AC3E}">
        <p14:creationId xmlns:p14="http://schemas.microsoft.com/office/powerpoint/2010/main" val="1651033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4">
            <a:extLst xmlns:a="http://schemas.openxmlformats.org/drawingml/2006/main">
              <a:ext uri="{FF2B5EF4-FFF2-40B4-BE49-F238E27FC236}">
                <a16:creationId xmlns:a16="http://schemas.microsoft.com/office/drawing/2014/main" id="{1D194BC7-2A86-4C8C-86BB-9D78FCCC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ARQUITETURA DA APLICAÇÃO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9B93F7B6-C4AB-4F52-B371-AD05FF45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9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Três camadas mantêm interface, regras e dados separados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3DDA87F0-6597-493D-82EF-2479C80F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frontend-node">
            <a:extLst xmlns:a="http://schemas.openxmlformats.org/drawingml/2006/main">
              <a:ext uri="{FF2B5EF4-FFF2-40B4-BE49-F238E27FC236}">
                <a16:creationId xmlns:a16="http://schemas.microsoft.com/office/drawing/2014/main" id="{8D9598BE-1CC6-468E-BF48-12677C96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6" name="api-node">
            <a:extLst xmlns:a="http://schemas.openxmlformats.org/drawingml/2006/main">
              <a:ext uri="{FF2B5EF4-FFF2-40B4-BE49-F238E27FC236}">
                <a16:creationId xmlns:a16="http://schemas.microsoft.com/office/drawing/2014/main" id="{731E3B29-6816-4956-831C-932A6EC3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7" name="db-node">
            <a:extLst xmlns:a="http://schemas.openxmlformats.org/drawingml/2006/main">
              <a:ext uri="{FF2B5EF4-FFF2-40B4-BE49-F238E27FC236}">
                <a16:creationId xmlns:a16="http://schemas.microsoft.com/office/drawing/2014/main" id="{11D7CBFC-2827-4AFA-A45B-9DA909BF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66950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38550" y="317182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7FF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67600" y="317182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7FF"/>
            </a:solidFill>
            <a:prstDash val="solid"/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28E95-213A-4EA7-A2AA-6F010C91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FRONT-END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7E8DD-A29C-4ACE-8892-0D9DEB16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Navegador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85CCF-DC31-45F1-B38F-C35B2BA4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HTML · CSS · JavaScript</a:t>
            </a:r>
          </a:p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Tailwind CSS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D90B4-912B-4803-B591-426A6145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52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3C5FD"/>
                </a:solidFill>
                <a:latin typeface="Arial"/>
                <a:ea typeface="Arial"/>
                <a:cs typeface="Arial"/>
              </a:rPr>
              <a:t>BACK-END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49C23-B987-473F-98FB-1ED9653D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71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REST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D5CE6-DA3E-4729-B165-D61BB05A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242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Node.js · Express</a:t>
            </a:r>
          </a:p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JSON · mysql2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335EB-6D67-4DC5-9B6B-2A8B114E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52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PERSISTÊNCIA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93779-14AF-4E8A-A0F6-B5C21AA4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71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MySQL 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0CB81-FF8A-4AB2-8348-B7A5342E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242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Tabelas relacionais</a:t>
            </a:r>
          </a:p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Transações e constraints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3C3D1-FA9D-431A-8DFA-E52CC203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09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Requisições HTTP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3A7175-FFD7-48BB-8CB0-688787B3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621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Consultas 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5E0B34-96C0-4D9A-8E14-6361273A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1042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Padrão adotado: arquitetura em camadas com front-end estático, API e banco relacional.</a:t>
            </a:r>
          </a:p>
        </p:txBody>
      </p:sp>
    </p:spTree>
    <p:extLst>
      <p:ext uri="{BB962C8B-B14F-4D97-AF65-F5344CB8AC3E}">
        <p14:creationId xmlns:p14="http://schemas.microsoft.com/office/powerpoint/2010/main" val="20824616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5">
            <a:extLst xmlns:a="http://schemas.openxmlformats.org/drawingml/2006/main">
              <a:ext uri="{FF2B5EF4-FFF2-40B4-BE49-F238E27FC236}">
                <a16:creationId xmlns:a16="http://schemas.microsoft.com/office/drawing/2014/main" id="{618AF971-DFD4-453F-9E6C-46E7C536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ESTRUTURA DO SISTEMA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F722E9D-76E5-45CA-BD73-69242122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95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organização do projeto acompanha as responsabilidades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ED31CC7D-683E-4BE1-B3A4-5FA05F21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646A1-B98B-4403-BE8C-5ABD81F1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4953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55776-CB58-4CD0-8901-24914823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286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ControleLab/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public/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├─ index.html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├─ app.js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└─ styles.css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src/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├─ server.js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├─ db.js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└─ routes/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   ├─ tools.js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│     └─ loans.js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├─ database/schema.sql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└─ package.json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63912-21F9-4957-AAF5-7D4C8DA2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public/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4D572-5093-4F50-8B9B-E7FADA70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288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Interface, navegação, formulários e consumo da API.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6096000" y="295275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DC25B-70F7-422E-A2CC-DD83960A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0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src/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0A037-9AE1-44E3-9D8D-0E3504AE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Servidor Express, conexão com MySQL e rotas por domínio.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6096000" y="4343400"/>
            <a:ext cx="495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D7593-1DF5-4C90-A67F-D8E8D522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database/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8DB06-6106-474B-8361-872822FB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101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Criação das tabelas, constraints, índices e dados iniciais.</a:t>
            </a:r>
          </a:p>
        </p:txBody>
      </p:sp>
    </p:spTree>
    <p:extLst>
      <p:ext uri="{BB962C8B-B14F-4D97-AF65-F5344CB8AC3E}">
        <p14:creationId xmlns:p14="http://schemas.microsoft.com/office/powerpoint/2010/main" val="10269764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6">
            <a:extLst xmlns:a="http://schemas.openxmlformats.org/drawingml/2006/main">
              <a:ext uri="{FF2B5EF4-FFF2-40B4-BE49-F238E27FC236}">
                <a16:creationId xmlns:a16="http://schemas.microsoft.com/office/drawing/2014/main" id="{4E5FE9CE-461E-4C4C-A6F2-668D3430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MODELO DE DADOS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5228AAF1-B4C2-40F5-80A2-C921E61F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Duas entidades sustentam a rastreabilidade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FFD6A67C-947A-4928-9DA0-8EF5C272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ools-entity">
            <a:extLst xmlns:a="http://schemas.openxmlformats.org/drawingml/2006/main">
              <a:ext uri="{FF2B5EF4-FFF2-40B4-BE49-F238E27FC236}">
                <a16:creationId xmlns:a16="http://schemas.microsoft.com/office/drawing/2014/main" id="{99C24ED4-F2A8-4633-9269-5A292769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095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6" name="loans-entity">
            <a:extLst xmlns:a="http://schemas.openxmlformats.org/drawingml/2006/main">
              <a:ext uri="{FF2B5EF4-FFF2-40B4-BE49-F238E27FC236}">
                <a16:creationId xmlns:a16="http://schemas.microsoft.com/office/drawing/2014/main" id="{607223D7-2476-47F9-AEC3-EE226010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19300"/>
            <a:ext cx="4095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972050" y="3495675"/>
            <a:ext cx="2247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7FF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3CB76-4EBB-472E-AF6F-5B59A9EE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72829-386D-4BCF-87B1-BDBC3ED0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3CCFF-702D-40A0-86C3-12D9899A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CACC9-FE9A-459C-A501-EE1455DD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Ferramentas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990E9-7B68-4135-B482-8F026EA6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23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32238"/>
                </a:solidFill>
                <a:latin typeface="Consolas"/>
                <a:ea typeface="Consolas"/>
                <a:cs typeface="Consolas"/>
              </a:rPr>
              <a:t>id · code (único)</a:t>
            </a:r>
          </a:p>
          <a:p xmlns:a="http://schemas.openxmlformats.org/drawingml/2006/main">
            <a:pPr algn="l">
              <a:defRPr sz="1575" b="0">
                <a:solidFill>
                  <a:srgbClr val="13223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32238"/>
                </a:solidFill>
                <a:latin typeface="Consolas"/>
                <a:ea typeface="Consolas"/>
                <a:cs typeface="Consolas"/>
              </a:rPr>
              <a:t>name · description</a:t>
            </a:r>
          </a:p>
          <a:p xmlns:a="http://schemas.openxmlformats.org/drawingml/2006/main">
            <a:pPr algn="l">
              <a:defRPr sz="1575" b="0">
                <a:solidFill>
                  <a:srgbClr val="13223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32238"/>
                </a:solidFill>
                <a:latin typeface="Consolas"/>
                <a:ea typeface="Consolas"/>
                <a:cs typeface="Consolas"/>
              </a:rPr>
              <a:t>total_quantity</a:t>
            </a:r>
          </a:p>
          <a:p xmlns:a="http://schemas.openxmlformats.org/drawingml/2006/main">
            <a:pPr algn="l">
              <a:defRPr sz="1575" b="0">
                <a:solidFill>
                  <a:srgbClr val="13223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32238"/>
                </a:solidFill>
                <a:latin typeface="Consolas"/>
                <a:ea typeface="Consolas"/>
                <a:cs typeface="Consolas"/>
              </a:rPr>
              <a:t>available_quantity</a:t>
            </a:r>
          </a:p>
          <a:p xmlns:a="http://schemas.openxmlformats.org/drawingml/2006/main">
            <a:pPr algn="l">
              <a:defRPr sz="1575" b="0">
                <a:solidFill>
                  <a:srgbClr val="13223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32238"/>
                </a:solidFill>
                <a:latin typeface="Consolas"/>
                <a:ea typeface="Consolas"/>
                <a:cs typeface="Consolas"/>
              </a:rPr>
              <a:t>created_at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00EB9-8FDB-4161-B5F5-0300D3CB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LOANS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800AD-C632-4B82-9C30-A90C97F7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860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Empréstimos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2BCEF-5EE5-4178-9C8F-9B5BA45E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337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23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32238"/>
                </a:solidFill>
                <a:latin typeface="Consolas"/>
                <a:ea typeface="Consolas"/>
                <a:cs typeface="Consolas"/>
              </a:rPr>
              <a:t>tool_id (FK) · student</a:t>
            </a:r>
          </a:p>
          <a:p xmlns:a="http://schemas.openxmlformats.org/drawingml/2006/main">
            <a:pPr algn="l">
              <a:defRPr sz="1575" b="0">
                <a:solidFill>
                  <a:srgbClr val="13223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32238"/>
                </a:solidFill>
                <a:latin typeface="Consolas"/>
                <a:ea typeface="Consolas"/>
                <a:cs typeface="Consolas"/>
              </a:rPr>
              <a:t>responsible · quantity</a:t>
            </a:r>
          </a:p>
          <a:p xmlns:a="http://schemas.openxmlformats.org/drawingml/2006/main">
            <a:pPr algn="l">
              <a:defRPr sz="1575" b="0">
                <a:solidFill>
                  <a:srgbClr val="13223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32238"/>
                </a:solidFill>
                <a:latin typeface="Consolas"/>
                <a:ea typeface="Consolas"/>
                <a:cs typeface="Consolas"/>
              </a:rPr>
              <a:t>loaned_at · returned_at</a:t>
            </a:r>
          </a:p>
          <a:p xmlns:a="http://schemas.openxmlformats.org/drawingml/2006/main">
            <a:pPr algn="l">
              <a:defRPr sz="1575" b="0">
                <a:solidFill>
                  <a:srgbClr val="13223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32238"/>
                </a:solidFill>
                <a:latin typeface="Consolas"/>
                <a:ea typeface="Consolas"/>
                <a:cs typeface="Consolas"/>
              </a:rPr>
              <a:t>status ·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D5AC18-CF70-49B0-90FB-8C4C4AFA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1043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Integridade: quantidades positivas · disponível ≤ total · status controlado · chave estrangeira</a:t>
            </a:r>
          </a:p>
        </p:txBody>
      </p:sp>
    </p:spTree>
    <p:extLst>
      <p:ext uri="{BB962C8B-B14F-4D97-AF65-F5344CB8AC3E}">
        <p14:creationId xmlns:p14="http://schemas.microsoft.com/office/powerpoint/2010/main" val="9363850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-7">
            <a:extLst xmlns:a="http://schemas.openxmlformats.org/drawingml/2006/main">
              <a:ext uri="{FF2B5EF4-FFF2-40B4-BE49-F238E27FC236}">
                <a16:creationId xmlns:a16="http://schemas.microsoft.com/office/drawing/2014/main" id="{B1C454DD-FD2E-489F-B7B1-CEF07D4E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BACK-END E API REST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3E8F5887-C287-466B-BDC2-E7BAAE5E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Cinco rotas protegem o estoque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2F0C08A8-986B-45F0-9D4A-55B8489E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67555-A45F-4A29-B1D7-F0DF1CA9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MÉTODO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63B7A-2395-48B6-9FFB-59C24827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09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ROTA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893ED-B648-4A2A-BA69-6CE7C22A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RESPONSABILIDADE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514350" y="2152650"/>
            <a:ext cx="773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238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E0A61-569A-42CD-8D43-4175660B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2A62C-0854-47AB-8274-8B0EC9FE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431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32238"/>
                </a:solidFill>
                <a:latin typeface="Consolas"/>
                <a:ea typeface="Consolas"/>
                <a:cs typeface="Consolas"/>
              </a:rPr>
              <a:t>/api/tools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675B2-B341-4D89-9A3B-FF19A516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43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Listar, buscar e filtrar itens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514350" y="2743200"/>
            <a:ext cx="7734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B00B7-13A0-493E-AA63-81D280EC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CE8FB-5F01-43CF-B217-F82451D3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33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32238"/>
                </a:solidFill>
                <a:latin typeface="Consolas"/>
                <a:ea typeface="Consolas"/>
                <a:cs typeface="Consolas"/>
              </a:rPr>
              <a:t>/api/tools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6438F-3CB7-4663-9F7C-3BD5A19C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33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Cadastrar ferramenta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514350" y="3333750"/>
            <a:ext cx="7734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58C78-1488-4A3A-97CB-A775BC68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EA1367-AC37-45E6-A37A-41E64273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242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32238"/>
                </a:solidFill>
                <a:latin typeface="Consolas"/>
                <a:ea typeface="Consolas"/>
                <a:cs typeface="Consolas"/>
              </a:rPr>
              <a:t>/api/loans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BE14D-A4C1-4B3A-9F76-E8558D07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24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Consultar ativos ou histórico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514350" y="3924300"/>
            <a:ext cx="7734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2D7DF-6C27-4817-922F-4960E566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3CA1C8-FCCF-431A-827F-C9071478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14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32238"/>
                </a:solidFill>
                <a:latin typeface="Consolas"/>
                <a:ea typeface="Consolas"/>
                <a:cs typeface="Consolas"/>
              </a:rPr>
              <a:t>/api/loans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645749-6CA6-4F9D-B60D-A7F75976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14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Registrar empréstimo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514350" y="4514850"/>
            <a:ext cx="7734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4F9E5F-9FD8-4373-AEAB-A3A9D911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PATCH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57359D-F90A-43D7-A18E-B626C1E4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05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23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32238"/>
                </a:solidFill>
                <a:latin typeface="Consolas"/>
                <a:ea typeface="Consolas"/>
                <a:cs typeface="Consolas"/>
              </a:rPr>
              <a:t>/api/loans/:id/return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E8A53D-9BA3-43A3-AACD-127FF049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05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Registrar devolução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514350" y="5105400"/>
            <a:ext cx="7734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BBBD7-219E-4527-A236-162C8D4C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2990850" cy="34861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2C1BBD-6DF6-41F3-9C42-DDAB485E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Empréstimo seguro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BC707B-B3DC-4F94-89EF-CFC1627D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381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1. Inicia transação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2. Bloqueia a ferramenta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3. Confere disponibilidade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4. Cria o empréstimo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5. Atualiza o saldo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6. Confirma ou desfaz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428513-44F8-4467-85DA-BE04E509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95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Sem autenticação no MVP atual</a:t>
            </a:r>
          </a:p>
        </p:txBody>
      </p:sp>
    </p:spTree>
    <p:extLst>
      <p:ext uri="{BB962C8B-B14F-4D97-AF65-F5344CB8AC3E}">
        <p14:creationId xmlns:p14="http://schemas.microsoft.com/office/powerpoint/2010/main" val="21026695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8">
            <a:extLst xmlns:a="http://schemas.openxmlformats.org/drawingml/2006/main">
              <a:ext uri="{FF2B5EF4-FFF2-40B4-BE49-F238E27FC236}">
                <a16:creationId xmlns:a16="http://schemas.microsoft.com/office/drawing/2014/main" id="{CEFC68E8-947F-439A-AD60-FA370CEE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FRONT-END E EXPERIÊNCIA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1AF5FB97-9E36-458F-BA7A-9B149F8D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1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interface privilegia consulta rápida e ação direta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2D5A65A4-9E6B-4E21-9F7B-88534C3B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19C6F-7267-4BBF-B3B5-48C7586B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Navegação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EA9D0-1652-413E-B76B-28B4A33C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Quatro áreas: visão geral, ferramentas, empréstimos e histórico.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A4EFF-B17A-4141-833D-8C6AB5AC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1239E-3750-47D2-BFEC-207712D2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Modais reduzem troca de tela; mensagens confirmam sucesso ou explicam erros.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90548-F81A-4206-BAAA-D11DEA40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Identidade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978C7-1FA5-4C03-8A1E-00F36ECA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Azul para ações, verde para disponibilidade e âmbar para atenção.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CC3CF-3E5B-4656-9C0B-23E21FEC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76400"/>
            <a:ext cx="8115300" cy="4610100"/>
          </a:xfrm>
          <a:prstGeom xmlns:a="http://schemas.openxmlformats.org/drawingml/2006/main" prst="roundRect">
            <a:avLst>
              <a:gd name="adj" fmla="val 2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f3ca7be0e4c66"/>
          <a:stretch xmlns:a="http://schemas.openxmlformats.org/drawingml/2006/main"/>
        </p:blipFill>
        <p:spPr>
          <a:xfrm xmlns:a="http://schemas.openxmlformats.org/drawingml/2006/main">
            <a:off x="3528483" y="1733550"/>
            <a:ext cx="7992533" cy="4495800"/>
          </a:xfrm>
          <a:prstGeom xmlns:a="http://schemas.openxmlformats.org/drawingml/2006/main" prst="roundRect">
            <a:avLst>
              <a:gd name="adj" fmla="val 1695"/>
            </a:avLst>
          </a:prstGeom>
        </p:spPr>
      </p:pic>
    </p:spTree>
    <p:extLst>
      <p:ext uri="{BB962C8B-B14F-4D97-AF65-F5344CB8AC3E}">
        <p14:creationId xmlns:p14="http://schemas.microsoft.com/office/powerpoint/2010/main" val="12034291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9">
            <a:extLst xmlns:a="http://schemas.openxmlformats.org/drawingml/2006/main">
              <a:ext uri="{FF2B5EF4-FFF2-40B4-BE49-F238E27FC236}">
                <a16:creationId xmlns:a16="http://schemas.microsoft.com/office/drawing/2014/main" id="{6B58DFF5-8159-4D8C-B2D5-5B45472F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DEMONSTRAÇÃO PRÁTICA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38035ECC-B970-4FA1-BEB6-93FC45DB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demonstração comprova o fluxo ponta a ponta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F6119397-6833-4F18-A67B-61300A71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89931-9B49-4BD3-9273-B0190C13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DEBC9-E758-4EDA-9B43-790638F5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335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Cadastrar uma ferramenta com código novo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552450" y="2305050"/>
            <a:ext cx="4457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C53BD-0DE7-4EF3-81E9-83804514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ECAB8-3284-4F83-8931-01F90CAE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Registrar empréstimo para um aluno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552450" y="3105150"/>
            <a:ext cx="4457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B8487-6708-45AC-B776-DF01367B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513F7-E7D0-4FD3-B582-DB57020C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Conferir a redução da disponibilidade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552450" y="3905250"/>
            <a:ext cx="4457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B46AC-8636-43F4-94F3-3D559968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784A3-09F7-4369-9EA2-468372B1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Tentar exceder o estoque e observar o bloqueio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552450" y="4705350"/>
            <a:ext cx="4457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A73A0-4AEB-4279-BE6B-D1EA737F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8DA5F-CA46-4D75-BEFE-9418D011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339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Registrar devolução e abrir o histórico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5EF1C-A477-4154-ACB2-332C1A84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90700"/>
            <a:ext cx="6076950" cy="346710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68547799c48ef"/>
          <a:stretch xmlns:a="http://schemas.openxmlformats.org/drawingml/2006/main"/>
        </p:blipFill>
        <p:spPr>
          <a:xfrm xmlns:a="http://schemas.openxmlformats.org/drawingml/2006/main">
            <a:off x="5563658" y="1847850"/>
            <a:ext cx="5960533" cy="3352800"/>
          </a:xfrm>
          <a:prstGeom xmlns:a="http://schemas.openxmlformats.org/drawingml/2006/main" prst="roundRect">
            <a:avLst>
              <a:gd name="adj" fmla="val 2273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6E6208-6B3F-4EFF-B668-A2F14A1B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48300"/>
            <a:ext cx="5962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65A753-1EBE-45AF-A374-A96D8BAF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197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487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Plano B: as capturas mantêm a narrativa caso a demonstração ao vivo seja interrompida.</a:t>
            </a:r>
          </a:p>
        </p:txBody>
      </p:sp>
    </p:spTree>
    <p:extLst>
      <p:ext uri="{BB962C8B-B14F-4D97-AF65-F5344CB8AC3E}">
        <p14:creationId xmlns:p14="http://schemas.microsoft.com/office/powerpoint/2010/main" val="6602732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10">
            <a:extLst xmlns:a="http://schemas.openxmlformats.org/drawingml/2006/main">
              <a:ext uri="{FF2B5EF4-FFF2-40B4-BE49-F238E27FC236}">
                <a16:creationId xmlns:a16="http://schemas.microsoft.com/office/drawing/2014/main" id="{BBDF7116-2094-4B95-816B-97C9E081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QUALIDADE E VALIDAÇÃO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4E7F0298-4307-4DE1-B751-FEDF0399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2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Os testes atacaram o fluxo feliz e as principais falhas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357B9EF-F8A9-4EB2-9F82-8674DE6C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C2780-F0BC-4C82-979A-7FAFB1AB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038850" cy="34480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2f45a0e954424"/>
          <a:stretch xmlns:a="http://schemas.openxmlformats.org/drawingml/2006/main"/>
        </p:blipFill>
        <p:spPr>
          <a:xfrm xmlns:a="http://schemas.openxmlformats.org/drawingml/2006/main">
            <a:off x="514350" y="1753195"/>
            <a:ext cx="5924550" cy="3332559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04B96-03A8-445F-ADEE-957B201C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526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Cenários validados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0094F-EDF5-4D31-AD65-9BD787CD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B2507-D6C5-4F22-8D45-0B114803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43150"/>
            <a:ext cx="401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Cadastro válido e código duplicado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36EDD-6E09-405A-9EF3-7181B1FD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86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36C3F-FEE0-495A-8B5A-CD051016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38450"/>
            <a:ext cx="401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Quantidade zero e campos inválidos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942AB-A4AF-493F-B940-2925993B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81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8B886-50EB-46CD-BE24-47442CEA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33750"/>
            <a:ext cx="401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Empréstimo acima do estoque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BE7A3-0EE3-4321-830E-7DFF8127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76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70F78-5150-4F9C-A2CF-70518612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1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Devolução e devolução repetida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63757-3820-4D90-AB0E-174EC8BD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719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C51E5B-A240-4476-B86C-9CC7FE30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24350"/>
            <a:ext cx="401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Busca, filtros e atualização da tela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5BC25-96AD-40EE-AADF-B68EF6C7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67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747CD-C823-4932-BDB1-2C541822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19650"/>
            <a:ext cx="4019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API, schema e conexão com MySQL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267BA0-BA5C-4CE1-A355-D9BF5401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11010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4F726-50CF-4484-A621-E2E97B0D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55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Resultado: dados de teste removidos e registros reais preservados após a validação.</a:t>
            </a:r>
          </a:p>
        </p:txBody>
      </p:sp>
    </p:spTree>
    <p:extLst>
      <p:ext uri="{BB962C8B-B14F-4D97-AF65-F5344CB8AC3E}">
        <p14:creationId xmlns:p14="http://schemas.microsoft.com/office/powerpoint/2010/main" val="5458512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11">
            <a:extLst xmlns:a="http://schemas.openxmlformats.org/drawingml/2006/main">
              <a:ext uri="{FF2B5EF4-FFF2-40B4-BE49-F238E27FC236}">
                <a16:creationId xmlns:a16="http://schemas.microsoft.com/office/drawing/2014/main" id="{F105199E-D334-4345-BB55-74570028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PRÓXIMAS ETAPAS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B00181A1-7648-48DF-8FC5-DEC8ED44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Próximo ciclo: segurança, operação e entrega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514350" y="13716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1C9B3AA9-BD87-4218-8B18-A9CBD325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AD865-2E6F-4BF9-98C7-C6312620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PRÓXIMA SPRINT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697F3-34C5-4D84-9CEE-717910AF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Segurança e cadastros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514350" y="285750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677FF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CF5EC-F93A-4695-9F7C-4C347A3D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Login e níveis de acesso</a:t>
            </a:r>
          </a:p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Alunos e responsáveis</a:t>
            </a:r>
          </a:p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Editar e inativar ferramentas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2B688-FB4C-40D5-BCBB-477165B8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90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SPRINT SEGUINTE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2BAB4-3AE1-4954-A79F-066DDA7E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09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Acompanhamento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210050" y="285750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7A6E4E-01A7-4F11-B143-0C9FDF56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Data prevista de devolução</a:t>
            </a:r>
          </a:p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Avisos de atraso</a:t>
            </a:r>
          </a:p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Exportação PDF e 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9059F-BCD7-466A-A477-8DF730FD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90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PREPARAÇÃO DA ENTREGA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7F561-9CD4-4EC0-8ECB-1C030EE9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Confiabilidade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7905750" y="285750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2933A-40C3-47B1-9528-3E62A76E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Testes automatizados</a:t>
            </a:r>
          </a:p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Publicação em servidor</a:t>
            </a:r>
          </a:p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Monitoramento e documentação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514350" y="4743450"/>
            <a:ext cx="105346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4DAE55-6516-4113-8FD1-964B4B2E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Divisão de responsabilidades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93E0EA-F143-408E-A2CB-CBA44B94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29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Gabriel Schifter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0A5CCC-77ED-4A01-A657-036D4254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410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Integração técnica e apresentação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5A271B-47AE-4FE2-ACC3-E3366DBA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29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Equipe DevProMax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A8E75-D1EB-4D5C-8D23-F42D2B3B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10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Revisão, testes e validação coletiva</a:t>
            </a:r>
          </a:p>
        </p:txBody>
      </p:sp>
    </p:spTree>
    <p:extLst>
      <p:ext uri="{BB962C8B-B14F-4D97-AF65-F5344CB8AC3E}">
        <p14:creationId xmlns:p14="http://schemas.microsoft.com/office/powerpoint/2010/main" val="6433546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04011-3DA1-4463-B13B-68D6378F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3C5FD"/>
                </a:solidFill>
                <a:latin typeface="Arial"/>
                <a:ea typeface="Arial"/>
                <a:cs typeface="Arial"/>
              </a:rPr>
              <a:t>CONTROLELAB · CONCLUSÃO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ECE32-AC75-4AC0-9381-509EE91C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ControleLab já transforma uma retirada em informação rastreável.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514350" y="327660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1677F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1B7C2-A894-44CA-A2D6-571317E1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857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O MVP integra interface, regras de negócio e banco de dados — e deixa claro o caminho para segurança, alertas e publicação.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C496E-AE1D-48BD-B232-9DD29319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14950"/>
            <a:ext cx="4667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0344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8C092-3231-445F-B7CC-38FF1942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45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Próxima prioridade: autenticação e alertas de atraso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99EE3-1864-43F1-8BC8-9240818C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054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3C5FD"/>
                </a:solidFill>
                <a:latin typeface="Arial"/>
                <a:ea typeface="Arial"/>
                <a:cs typeface="Arial"/>
              </a:rPr>
              <a:t>Perguntas?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026AC-6ADD-4F65-89C2-5666339D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78408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2026-08-13T22:00:27.0880000Z</dcterms:created>
  <dcterms:modified xsi:type="dcterms:W3CDTF">2026-08-13T22:00:27.0890000Z</dcterms:modified>
</coreProperties>
</file>